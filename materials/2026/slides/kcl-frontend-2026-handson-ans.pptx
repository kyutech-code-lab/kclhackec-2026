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B1A31D-9FF5-4F07-BDC7-4A58A08CBC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9E84869-914B-4FC0-8F61-F227F3A5D0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2F230BE-2965-4DDE-A194-37F1E6DCAF9E}"/>
              </a:ext>
            </a:extLst>
          </p:cNvPr>
          <p:cNvSpPr>
            <a:spLocks noGrp="1"/>
          </p:cNvSpPr>
          <p:nvPr/>
        </p:nvSpPr>
        <p:spPr>
          <a:xfrm>
            <a:off x="514350" y="1276350"/>
            <a:ext cx="504825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52E9146-4171-4A84-A81B-1D360BF20A23}"/>
              </a:ext>
            </a:extLst>
          </p:cNvPr>
          <p:cNvSpPr>
            <a:spLocks noGrp="1"/>
          </p:cNvSpPr>
          <p:nvPr/>
        </p:nvSpPr>
        <p:spPr>
          <a:xfrm>
            <a:off x="514350" y="1276350"/>
            <a:ext cx="5048250" cy="17145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D19662-B16A-4286-8AFF-AF5395CB9BAA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KCL Hack 2026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0218348-0A27-414D-8329-F1402D7FEA9E}"/>
              </a:ext>
            </a:extLst>
          </p:cNvPr>
          <p:cNvSpPr>
            <a:spLocks noGrp="1"/>
          </p:cNvSpPr>
          <p:nvPr/>
        </p:nvSpPr>
        <p:spPr>
          <a:xfrm>
            <a:off x="647700" y="1981200"/>
            <a:ext cx="4476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Frontend Hands-on Deck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52100E-14A9-4075-9171-765AA6FE97B1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438150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未完成の starter を読み解きながら、React / Next.js の基本構文を手で埋める講座フロー。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D62F0DB-C3BC-44FA-A104-D10EB0DA8FFD}"/>
              </a:ext>
            </a:extLst>
          </p:cNvPr>
          <p:cNvSpPr>
            <a:spLocks noGrp="1"/>
          </p:cNvSpPr>
          <p:nvPr/>
        </p:nvSpPr>
        <p:spPr>
          <a:xfrm>
            <a:off x="6134100" y="1276350"/>
            <a:ext cx="5543550" cy="339090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7ED5B6D-D515-4653-91A2-FF5A71559527}"/>
              </a:ext>
            </a:extLst>
          </p:cNvPr>
          <p:cNvSpPr>
            <a:spLocks noGrp="1"/>
          </p:cNvSpPr>
          <p:nvPr/>
        </p:nvSpPr>
        <p:spPr>
          <a:xfrm>
            <a:off x="6305550" y="1428750"/>
            <a:ext cx="5200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今日の軸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BF4DA42-DBD7-49B8-B6F2-D94BC722D8C8}"/>
              </a:ext>
            </a:extLst>
          </p:cNvPr>
          <p:cNvSpPr>
            <a:spLocks noGrp="1"/>
          </p:cNvSpPr>
          <p:nvPr/>
        </p:nvSpPr>
        <p:spPr>
          <a:xfrm>
            <a:off x="6305550" y="1771650"/>
            <a:ext cx="5200650" cy="2762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map を自分で書く</a:t>
            </a:r>
          </a:p>
          <a:p>
            <a:pPr algn="l">
              <a:defRPr sz="18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useState を自分で書く</a:t>
            </a:r>
          </a:p>
          <a:p>
            <a:pPr algn="l">
              <a:defRPr sz="18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useEffect を自分で書く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B5391-A182-4C7D-908A-FCEF1B1053E9}"/>
              </a:ext>
            </a:extLst>
          </p:cNvPr>
          <p:cNvSpPr>
            <a:spLocks noGrp="1"/>
          </p:cNvSpPr>
          <p:nvPr/>
        </p:nvSpPr>
        <p:spPr>
          <a:xfrm>
            <a:off x="514350" y="5010150"/>
            <a:ext cx="11163300" cy="1123950"/>
          </a:xfrm>
          <a:prstGeom prst="rect">
            <a:avLst/>
          </a:prstGeom>
          <a:solidFill>
            <a:srgbClr val="18202A"/>
          </a:solidFill>
          <a:ln w="9525">
            <a:solidFill>
              <a:srgbClr val="18202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C283CCB-CD5F-469F-9B3E-73C67AA5636D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0820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この deck の役割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C5791F4-CD8D-497F-8FC9-3304CE151EF7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8204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完成版の説明資料ではなく、今の穴埋めスターターに合わせて mentor が進行を合わせるための新しい講座 deck。</a:t>
            </a:r>
          </a:p>
        </p:txBody>
      </p:sp>
    </p:spTree>
    <p:extLst>
      <p:ext uri="{BB962C8B-B14F-4D97-AF65-F5344CB8AC3E}">
        <p14:creationId xmlns:p14="http://schemas.microsoft.com/office/powerpoint/2010/main" val="1643046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A593F42-50AA-4489-B01D-44D32F00F9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4EE1DC7-0570-4078-A0F2-DF3F25243F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2C416B-DDCC-41C2-A57B-509FFF3644B0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53125B8-F8CA-45F6-B331-6B39A9A8A301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01 / flow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2A3C7A8-48B6-447B-B4E6-B03EDE495221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F5E41D8-2A4F-40CB-9F86-736DC0B8E4E4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72ECCC9-74DB-462E-80B4-A4DEA468DBB1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E648FE41-958C-4708-B434-20C2DBCD6B23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0AB2B91-1A3C-41FB-9BFC-6D8EBADFA514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Teaching Loop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A0E8F9C-5B29-4EA0-9DFE-5FDD27372090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毎 phase の進め方は固定する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36DBCCB-43FD-4FAE-A2EB-9E31E69440CB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見えている未完成コードを、構文の意味とつなげてから手を動かす。答えは必ず理由つきで回収する。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F177A8A-4A56-40E2-BF2F-ECF1A40185CB}"/>
              </a:ext>
            </a:extLst>
          </p:cNvPr>
          <p:cNvSpPr>
            <a:spLocks noGrp="1"/>
          </p:cNvSpPr>
          <p:nvPr/>
        </p:nvSpPr>
        <p:spPr>
          <a:xfrm>
            <a:off x="495300" y="3048000"/>
            <a:ext cx="2571750" cy="2247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F7BF167-946E-4289-BA45-C02C8D6F9074}"/>
              </a:ext>
            </a:extLst>
          </p:cNvPr>
          <p:cNvSpPr>
            <a:spLocks noGrp="1"/>
          </p:cNvSpPr>
          <p:nvPr/>
        </p:nvSpPr>
        <p:spPr>
          <a:xfrm>
            <a:off x="666750" y="320040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1. できていない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4C0437F-F52D-404E-9620-693460987D1C}"/>
              </a:ext>
            </a:extLst>
          </p:cNvPr>
          <p:cNvSpPr>
            <a:spLocks noGrp="1"/>
          </p:cNvSpPr>
          <p:nvPr/>
        </p:nvSpPr>
        <p:spPr>
          <a:xfrm>
            <a:off x="666750" y="3543300"/>
            <a:ext cx="22288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TODO と仮実装を見て、どこが未完成かを先に言語化する。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E33078D-7D77-4001-A7C4-AE9B09059B9E}"/>
              </a:ext>
            </a:extLst>
          </p:cNvPr>
          <p:cNvSpPr>
            <a:spLocks noGrp="1"/>
          </p:cNvSpPr>
          <p:nvPr/>
        </p:nvSpPr>
        <p:spPr>
          <a:xfrm>
            <a:off x="3314700" y="3048000"/>
            <a:ext cx="2571750" cy="224790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5372BE2-D3BA-4E36-B9F0-A8FC08EEF590}"/>
              </a:ext>
            </a:extLst>
          </p:cNvPr>
          <p:cNvSpPr>
            <a:spLocks noGrp="1"/>
          </p:cNvSpPr>
          <p:nvPr/>
        </p:nvSpPr>
        <p:spPr>
          <a:xfrm>
            <a:off x="3486150" y="320040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2. 構文を確認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751537E-6F9B-41F7-AC45-4863922BA2B8}"/>
              </a:ext>
            </a:extLst>
          </p:cNvPr>
          <p:cNvSpPr>
            <a:spLocks noGrp="1"/>
          </p:cNvSpPr>
          <p:nvPr/>
        </p:nvSpPr>
        <p:spPr>
          <a:xfrm>
            <a:off x="3486150" y="3543300"/>
            <a:ext cx="22288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map / useState / useEffect / find など、今回使う構文だけを短く整理する。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F894565-5732-461D-BA7B-FEEF02D3E6CB}"/>
              </a:ext>
            </a:extLst>
          </p:cNvPr>
          <p:cNvSpPr>
            <a:spLocks noGrp="1"/>
          </p:cNvSpPr>
          <p:nvPr/>
        </p:nvSpPr>
        <p:spPr>
          <a:xfrm>
            <a:off x="6134100" y="3048000"/>
            <a:ext cx="2571750" cy="2247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4C6EDAA-2E7B-4CC3-8B7D-6A4CB71EB2E1}"/>
              </a:ext>
            </a:extLst>
          </p:cNvPr>
          <p:cNvSpPr>
            <a:spLocks noGrp="1"/>
          </p:cNvSpPr>
          <p:nvPr/>
        </p:nvSpPr>
        <p:spPr>
          <a:xfrm>
            <a:off x="6305550" y="320040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3. 作業タイム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3F7587C-A9C0-494B-BFD8-AE2BDF9F8B81}"/>
              </a:ext>
            </a:extLst>
          </p:cNvPr>
          <p:cNvSpPr>
            <a:spLocks noGrp="1"/>
          </p:cNvSpPr>
          <p:nvPr/>
        </p:nvSpPr>
        <p:spPr>
          <a:xfrm>
            <a:off x="6305550" y="3543300"/>
            <a:ext cx="22288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ごとに対象ファイルを固定して、数分単位で手を動かす。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B1CCA76-426E-482F-B3A2-EAF91F1C802B}"/>
              </a:ext>
            </a:extLst>
          </p:cNvPr>
          <p:cNvSpPr>
            <a:spLocks noGrp="1"/>
          </p:cNvSpPr>
          <p:nvPr/>
        </p:nvSpPr>
        <p:spPr>
          <a:xfrm>
            <a:off x="8953500" y="3048000"/>
            <a:ext cx="2571750" cy="224790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C12E1B9-32D5-4B4D-B4C4-A6108A7E4038}"/>
              </a:ext>
            </a:extLst>
          </p:cNvPr>
          <p:cNvSpPr>
            <a:spLocks noGrp="1"/>
          </p:cNvSpPr>
          <p:nvPr/>
        </p:nvSpPr>
        <p:spPr>
          <a:xfrm>
            <a:off x="9124950" y="320040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4. 答え合わせ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48D993C-3EE4-4861-85D9-8B8BF125971F}"/>
              </a:ext>
            </a:extLst>
          </p:cNvPr>
          <p:cNvSpPr>
            <a:spLocks noGrp="1"/>
          </p:cNvSpPr>
          <p:nvPr/>
        </p:nvSpPr>
        <p:spPr>
          <a:xfrm>
            <a:off x="9124950" y="3543300"/>
            <a:ext cx="22288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どう直したかより、なぜその構文でその意図が実現できるかを確認する。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31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9EE7A54-6A66-4777-B306-404FA5477A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97F43E4-0244-4A75-8D44-2EAA325AA8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32157BE-2124-4D14-A84E-50BA7916265E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DAB8165-6424-4F00-B440-774282EFA56E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02 / scope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FCC4B5-E888-41DF-9368-C013144230E6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3/18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E1D3645-65DA-4EC5-9C6F-2275628D53DC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99BEFE-2501-4E63-B74F-E7E12F7127C9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57A2B933-DF9E-4339-B23A-31B80BC06326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7A56BAA-7DB5-4CA0-B18D-C2BE58C9477A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App Frame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B2F8447-2CE8-43FD-9979-084F5B993187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今日作るものと、今日やらないもの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1721E19-5C18-429A-9543-1E8F92F80DE0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KCL Shop はフロントエンド完結の教材。初回講座では画面・状態・ページ遷移に集中する。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F70B9C6-F7E5-45A2-AED9-FCBB0E7A07E2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476250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7A878E2-3B15-493A-89C6-24BD59B149E5}"/>
              </a:ext>
            </a:extLst>
          </p:cNvPr>
          <p:cNvSpPr>
            <a:spLocks noGrp="1"/>
          </p:cNvSpPr>
          <p:nvPr/>
        </p:nvSpPr>
        <p:spPr>
          <a:xfrm>
            <a:off x="838200" y="3124200"/>
            <a:ext cx="441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やること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E379A42-C153-404E-8D4B-B50D2DE99242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44196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商品一覧</a:t>
            </a:r>
          </a:p>
          <a:p>
            <a:pPr algn="l">
              <a:defRPr sz="16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検索とカテゴリ絞り込み</a:t>
            </a:r>
          </a:p>
          <a:p>
            <a:pPr algn="l">
              <a:defRPr sz="16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商品詳細</a:t>
            </a:r>
          </a:p>
          <a:p>
            <a:pPr algn="l">
              <a:defRPr sz="16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お気に入り / カートの入口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54FA887-0A74-4990-B6B0-A2ACFB5DF84D}"/>
              </a:ext>
            </a:extLst>
          </p:cNvPr>
          <p:cNvSpPr>
            <a:spLocks noGrp="1"/>
          </p:cNvSpPr>
          <p:nvPr/>
        </p:nvSpPr>
        <p:spPr>
          <a:xfrm>
            <a:off x="5924550" y="2971800"/>
            <a:ext cx="4762500" cy="2457450"/>
          </a:xfrm>
          <a:prstGeom prst="rect">
            <a:avLst/>
          </a:prstGeom>
          <a:solidFill>
            <a:srgbClr val="F4E2D6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F7ACC58-8DDC-43AD-8C6C-06DE1C37D88B}"/>
              </a:ext>
            </a:extLst>
          </p:cNvPr>
          <p:cNvSpPr>
            <a:spLocks noGrp="1"/>
          </p:cNvSpPr>
          <p:nvPr/>
        </p:nvSpPr>
        <p:spPr>
          <a:xfrm>
            <a:off x="6096000" y="3124200"/>
            <a:ext cx="441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やらないこと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2C9AC1E-07A3-410A-B9B8-B6460D2F5B57}"/>
              </a:ext>
            </a:extLst>
          </p:cNvPr>
          <p:cNvSpPr>
            <a:spLocks noGrp="1"/>
          </p:cNvSpPr>
          <p:nvPr/>
        </p:nvSpPr>
        <p:spPr>
          <a:xfrm>
            <a:off x="6096000" y="3467100"/>
            <a:ext cx="44196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決済</a:t>
            </a:r>
          </a:p>
          <a:p>
            <a:pPr algn="l">
              <a:defRPr sz="16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認証</a:t>
            </a:r>
          </a:p>
          <a:p>
            <a:pPr algn="l">
              <a:defRPr sz="16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DB / API</a:t>
            </a:r>
          </a:p>
          <a:p>
            <a:pPr algn="l">
              <a:defRPr sz="16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バックエンド保存</a:t>
            </a:r>
          </a:p>
        </p:txBody>
      </p:sp>
    </p:spTree>
    <p:extLst>
      <p:ext uri="{BB962C8B-B14F-4D97-AF65-F5344CB8AC3E}">
        <p14:creationId xmlns:p14="http://schemas.microsoft.com/office/powerpoint/2010/main" val="689805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B392C4A-A961-49B5-8CB3-6252AAC15D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C8C0B20-74B1-4AD2-A289-F2D85420C3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E7FEE3B-8321-4D39-8BE5-0266029CD81D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4E3C104-A4B6-4267-B14D-32324EA1D659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03 / structure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54F423A-16E0-44FF-BE7C-EF3854297DBB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4/18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98B058C-AD54-4D2A-8EA4-8CDBCB580046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E43E0BA-479F-412B-AAE5-7B5B985EAD1A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8EF21A1A-FF4E-4E75-97E0-A22400975CD3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5862165-3B67-46DD-A364-F8E18A769D95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Component Thinking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0930406-8538-4036-A46D-0ACDDD912BB8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実装の流れは、部品より前に『流れ』で見る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ED587C0-9E0C-4C34-9323-266B095971C3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どのファイルを開くかより、データがどの順番で画面になるかを先に押さえる。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9BD3477-3A21-4952-AF4B-2AFB094B6EA3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3048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1F440EF-1F02-41D8-81CB-60CE3E150FA1}"/>
              </a:ext>
            </a:extLst>
          </p:cNvPr>
          <p:cNvSpPr>
            <a:spLocks noGrp="1"/>
          </p:cNvSpPr>
          <p:nvPr/>
        </p:nvSpPr>
        <p:spPr>
          <a:xfrm>
            <a:off x="876300" y="3200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1. data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A74FC18-3DD1-45CF-9DCE-C859E677A9E1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products.ts に商品データが並ぶ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C8F6435-FBBC-47A6-BE4A-2ABF0C48B8F9}"/>
              </a:ext>
            </a:extLst>
          </p:cNvPr>
          <p:cNvSpPr>
            <a:spLocks noGrp="1"/>
          </p:cNvSpPr>
          <p:nvPr/>
        </p:nvSpPr>
        <p:spPr>
          <a:xfrm>
            <a:off x="4248150" y="3048000"/>
            <a:ext cx="3048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0CCB4B7-2E6C-45D3-98C1-6D13A81E7931}"/>
              </a:ext>
            </a:extLst>
          </p:cNvPr>
          <p:cNvSpPr>
            <a:spLocks noGrp="1"/>
          </p:cNvSpPr>
          <p:nvPr/>
        </p:nvSpPr>
        <p:spPr>
          <a:xfrm>
            <a:off x="4419600" y="3200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2. card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C79765D-6503-4798-AF85-6D521FC9C3AC}"/>
              </a:ext>
            </a:extLst>
          </p:cNvPr>
          <p:cNvSpPr>
            <a:spLocks noGrp="1"/>
          </p:cNvSpPr>
          <p:nvPr/>
        </p:nvSpPr>
        <p:spPr>
          <a:xfrm>
            <a:off x="4419600" y="354330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ProductCard が 1 件分を表示する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E2DC8B1-632A-4C10-8177-D1A79EF200D9}"/>
              </a:ext>
            </a:extLst>
          </p:cNvPr>
          <p:cNvSpPr>
            <a:spLocks noGrp="1"/>
          </p:cNvSpPr>
          <p:nvPr/>
        </p:nvSpPr>
        <p:spPr>
          <a:xfrm>
            <a:off x="7791450" y="3048000"/>
            <a:ext cx="3048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77C681D-68E1-4E18-9D7D-FCCC47466C61}"/>
              </a:ext>
            </a:extLst>
          </p:cNvPr>
          <p:cNvSpPr>
            <a:spLocks noGrp="1"/>
          </p:cNvSpPr>
          <p:nvPr/>
        </p:nvSpPr>
        <p:spPr>
          <a:xfrm>
            <a:off x="7962900" y="3200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3. list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BC9DD1C-143B-4714-AEF2-1A764B936C61}"/>
              </a:ext>
            </a:extLst>
          </p:cNvPr>
          <p:cNvSpPr>
            <a:spLocks noGrp="1"/>
          </p:cNvSpPr>
          <p:nvPr/>
        </p:nvSpPr>
        <p:spPr>
          <a:xfrm>
            <a:off x="7962900" y="354330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ProductList が map で一覧に変換する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0FC0525-E9EA-43E5-9EEF-F3770EC9D687}"/>
              </a:ext>
            </a:extLst>
          </p:cNvPr>
          <p:cNvSpPr>
            <a:spLocks noGrp="1"/>
          </p:cNvSpPr>
          <p:nvPr/>
        </p:nvSpPr>
        <p:spPr>
          <a:xfrm>
            <a:off x="704850" y="4476750"/>
            <a:ext cx="3048000" cy="1143000"/>
          </a:xfrm>
          <a:prstGeom prst="rect">
            <a:avLst/>
          </a:prstGeom>
          <a:solidFill>
            <a:srgbClr val="F4E2D6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9956BC4-E96A-4DBA-ABFC-C8842AC0FEC0}"/>
              </a:ext>
            </a:extLst>
          </p:cNvPr>
          <p:cNvSpPr>
            <a:spLocks noGrp="1"/>
          </p:cNvSpPr>
          <p:nvPr/>
        </p:nvSpPr>
        <p:spPr>
          <a:xfrm>
            <a:off x="876300" y="46291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4. page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3575099-77F4-4775-90CA-F98651B30D0C}"/>
              </a:ext>
            </a:extLst>
          </p:cNvPr>
          <p:cNvSpPr>
            <a:spLocks noGrp="1"/>
          </p:cNvSpPr>
          <p:nvPr/>
        </p:nvSpPr>
        <p:spPr>
          <a:xfrm>
            <a:off x="876300" y="49720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page.tsx が state と handlers を持つ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75DB816-1F6F-4CC7-97AE-3E6565A103DC}"/>
              </a:ext>
            </a:extLst>
          </p:cNvPr>
          <p:cNvSpPr>
            <a:spLocks noGrp="1"/>
          </p:cNvSpPr>
          <p:nvPr/>
        </p:nvSpPr>
        <p:spPr>
          <a:xfrm>
            <a:off x="4248150" y="4476750"/>
            <a:ext cx="3048000" cy="114300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DC1C26D-0E2A-42BB-886C-5E2D7B322916}"/>
              </a:ext>
            </a:extLst>
          </p:cNvPr>
          <p:cNvSpPr>
            <a:spLocks noGrp="1"/>
          </p:cNvSpPr>
          <p:nvPr/>
        </p:nvSpPr>
        <p:spPr>
          <a:xfrm>
            <a:off x="4419600" y="46291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5. route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341A336-9C26-496D-A94D-46A0FA17DA4C}"/>
              </a:ext>
            </a:extLst>
          </p:cNvPr>
          <p:cNvSpPr>
            <a:spLocks noGrp="1"/>
          </p:cNvSpPr>
          <p:nvPr/>
        </p:nvSpPr>
        <p:spPr>
          <a:xfrm>
            <a:off x="4419600" y="49720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[id]/page.tsx が詳細ページを受ける</a:t>
            </a:r>
          </a:p>
        </p:txBody>
      </p:sp>
    </p:spTree>
    <p:extLst>
      <p:ext uri="{BB962C8B-B14F-4D97-AF65-F5344CB8AC3E}">
        <p14:creationId xmlns:p14="http://schemas.microsoft.com/office/powerpoint/2010/main" val="99567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014FB1E-708D-48FB-BD84-2E9BA7C4A3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38FADF5-4A03-4DD8-8603-37C5259C30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BFB1466-F7C3-4818-939A-9518DFCD859A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81F5564-9939-4D37-B1AA-2C3887EAC1E0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 / phases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C26F146-6B57-42D8-B02C-9236258F34D6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5/18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484FE0F-DC89-4005-ADA7-7F215B06C0F4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771DA86-E849-4CAA-9175-B4B4C795F5BB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0F3A9350-FE7B-4DE6-8F1B-25573032A56C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047BD5-9C44-4631-8542-26439474E0F3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File Plan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783F5FA-4242-4125-B61E-58DD75FCEA3C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今日の hands-on は 6 phase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404C9F3-634C-44A2-9F0B-AF5AD5810102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対象ファイルを狭く切って、参加者が『今どこを触るのか』で迷わないように進める。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3CD6369-393B-4C00-A16B-028E0F62F2A2}"/>
              </a:ext>
            </a:extLst>
          </p:cNvPr>
          <p:cNvSpPr>
            <a:spLocks noGrp="1"/>
          </p:cNvSpPr>
          <p:nvPr/>
        </p:nvSpPr>
        <p:spPr>
          <a:xfrm>
            <a:off x="704850" y="2971800"/>
            <a:ext cx="3048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B659B5A-5300-401B-8FE0-31F7F09F9DC1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1 | 型と商品データ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9AE261F-75AA-4F2E-B58B-005C0CC8AFC7}"/>
              </a:ext>
            </a:extLst>
          </p:cNvPr>
          <p:cNvSpPr>
            <a:spLocks noGrp="1"/>
          </p:cNvSpPr>
          <p:nvPr/>
        </p:nvSpPr>
        <p:spPr>
          <a:xfrm>
            <a:off x="876300" y="34671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src/types/product.ts</a:t>
            </a:r>
          </a:p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src/data/products.ts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3B007DC-6B1C-49D6-9618-ECAF1D1C2667}"/>
              </a:ext>
            </a:extLst>
          </p:cNvPr>
          <p:cNvSpPr>
            <a:spLocks noGrp="1"/>
          </p:cNvSpPr>
          <p:nvPr/>
        </p:nvSpPr>
        <p:spPr>
          <a:xfrm>
            <a:off x="4248150" y="2971800"/>
            <a:ext cx="3048000" cy="1181100"/>
          </a:xfrm>
          <a:prstGeom prst="rect">
            <a:avLst/>
          </a:prstGeom>
          <a:solidFill>
            <a:srgbClr val="E7EBF0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AA6538A-AFF6-4AE1-AE4C-ED595F969433}"/>
              </a:ext>
            </a:extLst>
          </p:cNvPr>
          <p:cNvSpPr>
            <a:spLocks noGrp="1"/>
          </p:cNvSpPr>
          <p:nvPr/>
        </p:nvSpPr>
        <p:spPr>
          <a:xfrm>
            <a:off x="4419600" y="31242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2 | ProductCard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F08265C-65FB-4DD1-A4E3-749F512FD049}"/>
              </a:ext>
            </a:extLst>
          </p:cNvPr>
          <p:cNvSpPr>
            <a:spLocks noGrp="1"/>
          </p:cNvSpPr>
          <p:nvPr/>
        </p:nvSpPr>
        <p:spPr>
          <a:xfrm>
            <a:off x="4419600" y="34671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src/components/ui/ProductCard.tsx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C7C9F21-5D5E-44BE-8AB4-25EF4D081699}"/>
              </a:ext>
            </a:extLst>
          </p:cNvPr>
          <p:cNvSpPr>
            <a:spLocks noGrp="1"/>
          </p:cNvSpPr>
          <p:nvPr/>
        </p:nvSpPr>
        <p:spPr>
          <a:xfrm>
            <a:off x="7791450" y="2971800"/>
            <a:ext cx="3048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2C1047E-9952-4979-BD45-653A757A3485}"/>
              </a:ext>
            </a:extLst>
          </p:cNvPr>
          <p:cNvSpPr>
            <a:spLocks noGrp="1"/>
          </p:cNvSpPr>
          <p:nvPr/>
        </p:nvSpPr>
        <p:spPr>
          <a:xfrm>
            <a:off x="7962900" y="31242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3 | map と ProductList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5EBB7A8-641E-4B4C-8B15-28D094C1ADC7}"/>
              </a:ext>
            </a:extLst>
          </p:cNvPr>
          <p:cNvSpPr>
            <a:spLocks noGrp="1"/>
          </p:cNvSpPr>
          <p:nvPr/>
        </p:nvSpPr>
        <p:spPr>
          <a:xfrm>
            <a:off x="7962900" y="34671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src/components/containers/ProductList.tsx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8B7AAF3-CE90-47FE-9133-B3D491F4A531}"/>
              </a:ext>
            </a:extLst>
          </p:cNvPr>
          <p:cNvSpPr>
            <a:spLocks noGrp="1"/>
          </p:cNvSpPr>
          <p:nvPr/>
        </p:nvSpPr>
        <p:spPr>
          <a:xfrm>
            <a:off x="704850" y="4438650"/>
            <a:ext cx="3048000" cy="1181100"/>
          </a:xfrm>
          <a:prstGeom prst="rect">
            <a:avLst/>
          </a:prstGeom>
          <a:solidFill>
            <a:srgbClr val="E7EBF0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D409916-561C-47AB-B212-D661850FE173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4 | useState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F0908FB-5BD7-4028-99C2-988F5E634592}"/>
              </a:ext>
            </a:extLst>
          </p:cNvPr>
          <p:cNvSpPr>
            <a:spLocks noGrp="1"/>
          </p:cNvSpPr>
          <p:nvPr/>
        </p:nvSpPr>
        <p:spPr>
          <a:xfrm>
            <a:off x="876300" y="493395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src/app/page.tsx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7F04576-B254-4EAC-BE31-B80BC21C34C7}"/>
              </a:ext>
            </a:extLst>
          </p:cNvPr>
          <p:cNvSpPr>
            <a:spLocks noGrp="1"/>
          </p:cNvSpPr>
          <p:nvPr/>
        </p:nvSpPr>
        <p:spPr>
          <a:xfrm>
            <a:off x="4248150" y="4438650"/>
            <a:ext cx="30480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DC8C2E7-97F3-4034-9A99-6254826CCD77}"/>
              </a:ext>
            </a:extLst>
          </p:cNvPr>
          <p:cNvSpPr>
            <a:spLocks noGrp="1"/>
          </p:cNvSpPr>
          <p:nvPr/>
        </p:nvSpPr>
        <p:spPr>
          <a:xfrm>
            <a:off x="4419600" y="45910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5 | useEffect と filter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E98FB8D-1A56-4660-9A83-8546B1EE26EA}"/>
              </a:ext>
            </a:extLst>
          </p:cNvPr>
          <p:cNvSpPr>
            <a:spLocks noGrp="1"/>
          </p:cNvSpPr>
          <p:nvPr/>
        </p:nvSpPr>
        <p:spPr>
          <a:xfrm>
            <a:off x="4419600" y="493395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src/app/page.tsx</a:t>
            </a:r>
          </a:p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src/utils/productFilters.ts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8C6D548-C52D-493A-9196-499D50FB40A7}"/>
              </a:ext>
            </a:extLst>
          </p:cNvPr>
          <p:cNvSpPr>
            <a:spLocks noGrp="1"/>
          </p:cNvSpPr>
          <p:nvPr/>
        </p:nvSpPr>
        <p:spPr>
          <a:xfrm>
            <a:off x="7791450" y="4438650"/>
            <a:ext cx="3048000" cy="1181100"/>
          </a:xfrm>
          <a:prstGeom prst="rect">
            <a:avLst/>
          </a:prstGeom>
          <a:solidFill>
            <a:srgbClr val="E7EBF0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8E9BCB6-079A-4DDD-A6A8-D0F13AB856ED}"/>
              </a:ext>
            </a:extLst>
          </p:cNvPr>
          <p:cNvSpPr>
            <a:spLocks noGrp="1"/>
          </p:cNvSpPr>
          <p:nvPr/>
        </p:nvSpPr>
        <p:spPr>
          <a:xfrm>
            <a:off x="7962900" y="45910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Phase 6 | 詳細ページ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4DB8B5D-02B9-424B-AD3A-66BD9829E584}"/>
              </a:ext>
            </a:extLst>
          </p:cNvPr>
          <p:cNvSpPr>
            <a:spLocks noGrp="1"/>
          </p:cNvSpPr>
          <p:nvPr/>
        </p:nvSpPr>
        <p:spPr>
          <a:xfrm>
            <a:off x="7962900" y="493395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src/app/products/[id]/page.tsx</a:t>
            </a:r>
          </a:p>
        </p:txBody>
      </p:sp>
    </p:spTree>
    <p:extLst>
      <p:ext uri="{BB962C8B-B14F-4D97-AF65-F5344CB8AC3E}">
        <p14:creationId xmlns:p14="http://schemas.microsoft.com/office/powerpoint/2010/main" val="76681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B126F82-6F49-4B73-8BB3-7C1911B983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D400CFD-4CD8-4EBC-A5CD-FA74FB331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97F302E-6AD8-4598-924A-7B72BA06225C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7A619E-FDDE-4238-9978-5A4397CC3640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05 / phase-1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B75FB2C-7415-455D-84B1-62FAD39B55C2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6/18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297CAE9-7B2C-4EFA-9171-106559A488F5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A38F7B-B283-4DE5-9337-9E99AAF1DE62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26FAE41C-405D-45EB-B79A-6A733E5DC0CD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8953777-BE48-420A-8431-DDDA0967C129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1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487C83D-51D0-40E3-826D-9B359C38707F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型と商品データ: まず『形』を決める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2E6B59D-4479-409E-B378-CBEA9A8DBF91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ここでは Product 型と products 配列がつながっていることを理解する。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C8753B-C851-4C63-AA7F-796C7BF669FE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9FA8ACB-B388-40A8-9338-95BDD87FED38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04C5AB1-FC05-4616-A876-230076536DDB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export const products: Product[] = [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id: "gadget-speaker",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name: "ポケットスピーカー",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// ...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},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// TODO(Phase 1):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// 5 件目以降の商品を追加する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];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77BCD51-1516-41DC-BF77-49C9987DC9D5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95836BC-AA8E-4D53-8B8F-37AC4FE0788F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9E05EC4-64D4-4DF3-B2C8-B6E3883B9577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type Product = { ... }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Product[] は Product の配列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category は決まった候補から選ぶ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185D064-D335-4BEE-AF8C-9624F2F28726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D752290-E6D4-4AC8-8D85-6C4D2B9C3DE5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5分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605E510-B778-4700-8EBD-CBE63CAF69DE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商品を 1 件追加する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id を重複させない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price / stock / rating を number で入れる</a:t>
            </a:r>
          </a:p>
        </p:txBody>
      </p:sp>
    </p:spTree>
    <p:extLst>
      <p:ext uri="{BB962C8B-B14F-4D97-AF65-F5344CB8AC3E}">
        <p14:creationId xmlns:p14="http://schemas.microsoft.com/office/powerpoint/2010/main" val="163510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50A8C08-C841-4A5A-AEB5-261661303F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E3A3340-A841-4095-AA4E-8D127C7263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0815C7-AE8E-4D78-9C79-DCFF7B532771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E83E2B7-9FB7-4C63-8BC3-D6563645071B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06 / phase-1-answer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801484-02C7-4061-A5F4-1D06E48A1A31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7/18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BBBA4A-58CC-4A85-B530-AEF5FFF8498F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05CFFE6-6A0C-4003-83FA-8C24407C988C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77C204A9-5F2E-4B08-A729-B913B5F33890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7BDFBB5-BCD3-405A-BA04-1518DE2315AA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1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596E61E-0ACF-4B3E-A7C6-872A6D921451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型があると、足すデータの形も迷わない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E74A522-BC0B-4B3D-9915-E43E591782CE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Product 型が先に決まると、products 配列へ追加するときのチェックリストになる。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EF907D7-F9CE-4603-9093-A1CB1FEE8474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8359A80-884B-4FEF-BF6C-2B52930975FB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答えの形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01A2A0C-EBEB-48B9-BD16-B1390316A8B9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id: "gadget-keyboard",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name: "ワイヤレスキーボード",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description: "ここに商品の説明を書く",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price: 9200,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category: "ガジェット",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imageUrl: "https://example.com/image.jpg",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stock: 5,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rating: 4.7,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D288644-EE3B-4A3B-8F1B-EFADA5912573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A225C33-7731-46BD-847B-DEDB18491549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なぜこうなるか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1F977B0-EEAF-4B77-A15B-B0B6912775BD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Product 型が、必要な項目を先に約束している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id は URL にも使うので一意にする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数値項目は後で計算や表示に使いやすい</a:t>
            </a:r>
          </a:p>
        </p:txBody>
      </p:sp>
    </p:spTree>
    <p:extLst>
      <p:ext uri="{BB962C8B-B14F-4D97-AF65-F5344CB8AC3E}">
        <p14:creationId xmlns:p14="http://schemas.microsoft.com/office/powerpoint/2010/main" val="1829952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C82D0E2-395D-45F6-BF4B-162581B1AB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C090BC-9467-45B5-8797-6552F17867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A760D6F-C300-4D73-BD76-35C1C9A4F3EB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15B35FA-BA00-48E8-8DE5-F7E3D93BDA39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07 / phase-2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F766D18-DFB3-4C44-A048-CC55F10A82F6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8/18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DBE24C2-8E54-4695-9CC7-3D853E095CF8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2FA909B-0162-44E8-A417-3ACD12285F77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7F513495-9440-422B-BAE8-ECD9247504F9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D351D25-08D0-4EB1-8F56-F763CF5D1E13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2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BF81718-D793-4331-B75A-593D968D51DD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ProductCard: props から 1 件分を表示する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85684F5-4570-4E2E-B321-B4096CC0A6E5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ここでは product から値を取り出して、カードの中へ置く。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D09E6B6-DC7D-4CBD-9018-73A46EA7F285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1A00F81-883D-4348-9372-0BBC71BE1795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0494396-DFC2-40A8-92A9-EBF840A1DDDD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displayDescription = "ここに商品の説明を表示";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displayPrice = formatPrice(0);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displayRating = 0;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displayStock = 0;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&lt;p&gt;{displayDescription}&lt;/p&gt;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&lt;span&gt;{displayPrice}&lt;/span&gt;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評価 {displayRating.toFixed(1)} / 在庫 {displayStock} 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6A9C45C-545B-499B-B5A7-7F3183E92569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B856376-FE01-41A5-8FE4-426A11CB6ACE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051C634-11F1-4B61-B160-D64DD6560762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props は部品への入力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formatPrice(number) で価格表示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product.description のように値へアクセスする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0270BF5-1DDD-48AC-81D1-B0CA7F0E59B0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19A2FA9-2598-47A6-9279-54FF9F01B865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4分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59C77B5-C4CD-4F40-80B9-C65FA29E57F6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description を product.description に変える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price / rating / stock を product から取る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表示だけに集中する</a:t>
            </a:r>
          </a:p>
        </p:txBody>
      </p:sp>
    </p:spTree>
    <p:extLst>
      <p:ext uri="{BB962C8B-B14F-4D97-AF65-F5344CB8AC3E}">
        <p14:creationId xmlns:p14="http://schemas.microsoft.com/office/powerpoint/2010/main" val="1774147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5C0A063-89CB-4D5F-9BB4-8DD3F670B1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23251E-0CD6-4B88-99A0-F4A5AB65B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2C7EDAC-5DCB-412F-8DF9-4D1E37F852A7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373B94-4E4D-4A15-B1DB-84E851E4E8C3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08 / phase-2-answer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31218FC-4517-4B19-8C5E-64D8C54AFB9E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9/18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EBD1C3-32EC-43FC-8F46-70D35B7C0D32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D4140E6-5D85-4FC7-B0B1-92477560D4AB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843F3498-01B9-4CD4-8AE0-151C151ACB88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D2930E-DDCA-4E18-A153-0C63AB56AEDE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2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CF2E062-E934-4BBD-83DA-93636A45F0E7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ProductCard は『商品 1 件を受け取って表示する』だけ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49A3B6-B781-4E71-B400-1BCBC7EB3970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カード自体はカート全体を知らなくてよい。必要な 1 件分だけ受け取ればよい。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58421CD-3178-4461-9DC0-AD4716B24E3D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978D0BF-8531-4622-A8BA-832128B33ADB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答えの形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E588592-B13D-4FAF-BDC1-ACA490606580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displayDescription = product.description;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displayPrice = formatPrice(product.price);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displayRating = product.rating;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displayStock = product.stock;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ACD4981-6E0C-4FF9-A16E-DC41CD0C367E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247636C-0FC6-413D-8FE8-454CAC5DBDD5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なぜこうなるか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49875D3-4946-49B7-B367-4F1B96BB8762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props の product に必要な値がすでに入っている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formatPrice は number を表示用文字列へ変える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表示専用の変数に分けると意図が読みやすい</a:t>
            </a:r>
          </a:p>
        </p:txBody>
      </p:sp>
    </p:spTree>
    <p:extLst>
      <p:ext uri="{BB962C8B-B14F-4D97-AF65-F5344CB8AC3E}">
        <p14:creationId xmlns:p14="http://schemas.microsoft.com/office/powerpoint/2010/main" val="252282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729380-A05C-428E-AB98-A53CD4E585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E192887-0591-44D5-AB0D-D80686EA13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9E3AADF-340F-473C-B2A1-CE9BCDBC45C9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756DBD-4230-4440-BD49-987313E1506B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09 / phase-3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693716E-9574-463A-B5BA-D859161461F3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10/18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9F53CBA-A831-4F19-B6BF-21EB3BAE3D9C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325334B-A5D1-47D3-BF21-565ECA9ED953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0B6C08FE-B4BE-4CB7-B42A-4F802FACD37F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7AB270-3610-4065-A383-494E36E9315D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3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32CA39-F9F1-4655-94A3-EEDDFFD1DA5A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map と ProductList: 配列をカード列へ変換する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5D2E774-7060-4D0F-89EF-0C73A30D0762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ここが『データが一覧になる』瞬間。今日の中心の 1 つ。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75544FD-7D7E-43AD-BB07-9DF604745107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CF4C96D-E915-456B-91F8-4B1F4C6CB038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DCA3107-1559-4FF6-BA1D-7C9B8EFF660F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products.map((_, index) =&gt; 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const cartItem = cartItems.find((item) =&gt; item.productId === "");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const isFavorite = favoriteIds.includes("");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return (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&lt;ProductCard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key={`starter-${index}`}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product={products[index]!}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/&gt;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01EFEE0-18DB-4DA6-B6F1-C93CD808E854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6B497E1-A7C9-40B1-BEFB-ECFF3F4535B5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EE819B9-BCCA-47AC-9764-0C14D12BC36F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products.map((product) =&gt; ...)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key は一覧の識別子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map の引数 product は『今見ている 1 件』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B700BEF-AA33-4182-8C60-C7E5174077B0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0EDC4BE-71EE-46EA-9110-CBC879B2BE66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6分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0EF74B5-594C-4817-8D95-C29E292AF84A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map の引数を product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key を product.id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find / includes も product.id に直す</a:t>
            </a:r>
          </a:p>
        </p:txBody>
      </p:sp>
    </p:spTree>
    <p:extLst>
      <p:ext uri="{BB962C8B-B14F-4D97-AF65-F5344CB8AC3E}">
        <p14:creationId xmlns:p14="http://schemas.microsoft.com/office/powerpoint/2010/main" val="40871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6F820B8-59F2-4B96-BCAA-4CED61495E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4F9EC2A-A970-4A9D-9370-3638F8BB7B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4CBE120-6156-48A2-94FC-30698931A812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931896-F00D-4B01-990F-4C3ECC7ADFF1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10 / phase-3-answer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688210-CD03-4FD9-A376-81206D834A75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11/18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8719027-E9A2-4415-904E-5456512A166E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8CABAD3-4A79-4B1E-B91E-E981CCCD905E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18DEAF32-7DBE-4971-9218-540538D6297D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EDBB5BA-16E8-43BA-AAA9-86724A697FAE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3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9E61A8B-64BC-499F-AB96-D77C504B822F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map は『配列の各要素を別の形へ変える』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93C45A1-148E-46F5-8131-1AD81BE4C35B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products 配列から ProductCard の配列を作るのが ProductList の役割。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748B5E1-509A-46A4-8BF4-7AB70D72F0BD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CBA83FB-0596-466F-85B4-9E16F8A253A2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答えの形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8505DE7-E583-4C63-9F6A-00686A3A8AA4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products.map((product) =&gt; 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const cartItem = cartItems.find((item) =&gt; item.productId === product.id);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const isFavorite = favoriteIds.includes(product.id);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return (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&lt;ProductCard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key={product.id}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product={product}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cartQuantity={cartItem?.quantity ?? 0}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  isFavorite={isFavorite}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/&gt;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AECAE08-5A2C-4C82-9D71-EF8EF3BABCB3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409AE46-E86F-4938-8CF7-3DB4C13F43F8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なぜこうなるか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FAB6553-8F7A-4C54-9A68-17DBA47EBE32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map の引数 product が、今の 1 件分のデータ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key は React が一覧を区別するために使う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親である ProductList が、子へ必要な props を渡す</a:t>
            </a:r>
          </a:p>
        </p:txBody>
      </p:sp>
    </p:spTree>
    <p:extLst>
      <p:ext uri="{BB962C8B-B14F-4D97-AF65-F5344CB8AC3E}">
        <p14:creationId xmlns:p14="http://schemas.microsoft.com/office/powerpoint/2010/main" val="906724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08F56AC-D9F8-4E1B-AB6A-3D91CF0558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F77F810-2377-413E-84D8-E3D117347A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9654F3-F471-4D27-A950-250B4190B06B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E2C38FE-A639-43A1-B739-9DE90A4A59E5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11 / phase-4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48B2FA0-0B7D-4F18-9F10-17BBDE811620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12/18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2C1CC88-AF19-4C76-A099-A6531B06428D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4232F7A-C9EB-4939-96E5-74A7284E8310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CF3D0B67-28D7-4A5E-AB60-14EE201C7243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FAFFC2A-EB24-4532-8D68-799B256CCCF3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4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B019C86-268A-48FA-9EB0-646C4CC67E1C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useState: 入力値と選択状態を React に覚えさせる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ACA05A5-9048-4520-9652-441AA7AFA00A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検索欄は『見た目』ではなく『状態』として持つ。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0432990-AEE6-441C-B684-830F0C964E67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2F0E3AA-E274-4CDB-9A6A-AD691BE7687F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9AF59D-9582-42D3-A11B-F50A8A6220E2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[searchTerm, setSearchTerm] = useState("");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[selectedCategory, setSelectedCategory] =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useState("すべて");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[filteredProducts, setFilteredProducts] =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useState&lt;Product[]&gt;(products);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F984D68-870B-4D4E-82C3-AE832A217EB4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43D2948-5A2E-4062-85DC-CF53AEBF5E9F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D6AA51D-497C-44F3-A45F-A8294A7ACEF7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const [value, setValue] = useState(initial)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value は今の値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setValue(...) で更新すると再描画される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89561A7-4795-4284-B7CD-1D146201F4CE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1A3485D-897F-4DF6-B8A1-341E5A529593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4分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44B470A-10B1-411C-9F74-F12868FD6747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3 つの state が何を覚えるかを言えるようにする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searchTerm と selectedCategory は入力と選択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filteredProducts は表示結果</a:t>
            </a:r>
          </a:p>
        </p:txBody>
      </p:sp>
    </p:spTree>
    <p:extLst>
      <p:ext uri="{BB962C8B-B14F-4D97-AF65-F5344CB8AC3E}">
        <p14:creationId xmlns:p14="http://schemas.microsoft.com/office/powerpoint/2010/main" val="1992802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17EEA3A-4613-457E-9BD1-7E2DB1C515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08D71AF-AA8C-49F2-A4E5-E547056273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DF4A2E2-826C-458A-B657-4EB86CF8328C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143CA56-C138-4A91-B1F5-26FCF6A41BD6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12 / phase-4-answer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291969C-77E5-4CC8-81C8-17581C319649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13/18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D057080-C55E-4231-9E3D-A89CFA20B891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9F4C7F-3002-4440-9774-D2DDF88F74F5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182600AE-556C-44A8-ABD9-49632207E201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B68A5B3-FCF4-47E6-B2B4-8D7D3244B74F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4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9474728-E389-4C96-A40E-E65E362E9070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state は『画面が覚えている値』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A80D694-294C-4C5E-A2A9-7FFB1E90F956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普通の変数では画面更新につながらないので、React の state として持つ。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08C639D-76FC-4522-B222-C49B289BAD9B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0DCFF35-30B5-4644-A7A4-855B3EFA6F0C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覚える値の役割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63FBFFF-60EF-4956-BD9E-5A0944C93CBB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searchTerm        // 検索欄の文字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selectedCategory  // 今選んでいるカテゴリ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filteredProducts  // 今表示している商品一覧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A3DAD4F-F14B-49E9-A7F6-FF69620946AE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6B06011-37D9-4A5F-83BF-B6C449BD4E8B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なぜこう分けるか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1C0F44E-90E2-4C9C-AD25-77A40A728AA7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入力値と表示結果は別の責務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検索欄が変わっても、表示更新のロジックは後でまとめて書ける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useEffect と役割分担しやすくなる</a:t>
            </a:r>
          </a:p>
        </p:txBody>
      </p:sp>
    </p:spTree>
    <p:extLst>
      <p:ext uri="{BB962C8B-B14F-4D97-AF65-F5344CB8AC3E}">
        <p14:creationId xmlns:p14="http://schemas.microsoft.com/office/powerpoint/2010/main" val="270222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6899AEA-FA10-4591-A15B-2D435D6597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90522E-6857-4F0D-B348-4A59F31C1C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4BE4E52-5BB0-4C78-83D4-2712D981E4F1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D5FB6D6-B319-43A9-BCA0-3AF341C1BC40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13 / phase-5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C3824BD-D653-4BC5-8066-8CC045919CBB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14/18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5CE053B-5991-4B9D-B8CD-88BBC4BA0125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8283D6-D9AD-43D4-ABE6-D6C87AA9C148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F401D2F0-7BCF-4DEB-BDCB-4F537A09FC9C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6CAA39F-2DAB-4598-A535-8E59DBEE390D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5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168FD03-9692-4759-9F9C-AF98BC5E8CED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useEffect と filter: 状態が変わったら表示結果を作り直す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91EFF0B-C949-49DB-9D4B-8DB195F95540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今日の 2 つ目の中心。useState で覚えた値から、一覧を再計算する。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27DBADC-E1EC-453A-AA2C-9E1DDA676408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300EF1A-B61C-4CE6-AD8A-06C8ABD9AADF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A275F4E-9DAB-4C7B-9371-C6F4D7D59FFE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useEffect(() =&gt; 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setFilteredProducts(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filterProducts(products, "", "すべて")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}, [searchTerm, selectedCategory]);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product.name.toLowerCase().includes("")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product.description.toLowerCase().includes("")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product.category.toLowerCase().includes("")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8015B64-A7E3-4141-B86F-03A57416D2CC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92E39D5-0E49-4432-8942-9DB9489EFE5B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769F1F0-A612-4609-82F3-D668171531D9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useEffect(() =&gt; { ... }, [deps])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trim / toLowerCase / includes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filterProducts(products, searchTerm, selectedCategory)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C8CD24A-F1C3-4B3E-9905-116CAC308A6F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EC8E001-E2DE-4C04-BA85-33282E3F3806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7分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851F146-8513-4C50-BADB-4361FEC41865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空文字を normalizedSearchTerm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effect の引数を searchTerm / selectedCategory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依存配列が何を意味するか説明できるようにする</a:t>
            </a:r>
          </a:p>
        </p:txBody>
      </p:sp>
    </p:spTree>
    <p:extLst>
      <p:ext uri="{BB962C8B-B14F-4D97-AF65-F5344CB8AC3E}">
        <p14:creationId xmlns:p14="http://schemas.microsoft.com/office/powerpoint/2010/main" val="99642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82D5F28-E4D2-46A8-84FE-E91F42BF65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7C8BA2-065F-4591-8C2E-37558D0992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FF5008E-1BCB-434E-BED4-61FEB4DC1D43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BB89D30-B8A9-4DFA-8008-975B596FC999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14 / phase-5-answer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5878FB-1452-4C81-8A59-5D429CA842A3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15/18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8CE0945-228F-4D51-83BB-14AC666B1062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2D15792-C2C1-49A2-A11B-E5A1771EA80F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0C6956B1-44D6-400F-9891-D6A1128E2D08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ED38CD3-523D-4A97-A712-2E8AAAC44FB5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5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68E1700-D0C5-477C-A0A5-8BA764A4B9A1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入力値を覚えるのが useState、結果を更新するのが useEffect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26CEDFE-23DF-4680-BB3F-2FF22BB9E58B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検索処理そのものは filterProducts に寄せ、page.tsx は『いつ再計算するか』に集中する。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74D55EE-88C3-4A31-8BC4-2BAB0A319E15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8435A7B-A1A3-4796-9B24-6AE6701A590B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答えの形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075589B-3E76-4DEE-896E-EFE11C07BCC7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useEffect(() =&gt; {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setFilteredProducts(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  filterProducts(products, searchTerm, selectedCategory)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  );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}, [searchTerm, selectedCategory]);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product.name.toLowerCase().includes(normalizedSearchTerm)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75284C1-5176-4F7A-B3B9-672443875A14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0391EC5-C571-4C69-9C9E-F04A055F3345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なぜこうなるか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0146267-A10B-4FA0-8C85-2E6E83701EF3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state が変わった後に追加処理をしたいから useEffect を使う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依存配列にある値が変わるたびに effect が走る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検索条件のロジックは util へ寄せると読みやすい</a:t>
            </a:r>
          </a:p>
        </p:txBody>
      </p:sp>
    </p:spTree>
    <p:extLst>
      <p:ext uri="{BB962C8B-B14F-4D97-AF65-F5344CB8AC3E}">
        <p14:creationId xmlns:p14="http://schemas.microsoft.com/office/powerpoint/2010/main" val="1037797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F7B91E9-C3BF-450E-8C9D-7706130F16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1FBC0AD-D2DA-4A4F-B2DB-37A9C6623E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13B166C-4FB0-4FA4-9D61-72F342D04024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0B6BB41-1158-406A-BF35-8752E385F717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15 / phase-6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BE4C65-53C6-440B-BF92-65586C5CCC26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16/18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9413025-05FB-4969-AED6-7E528EF1E537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5E77CD8-327A-4177-8E98-09A9B13F6D43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752CCF66-ADBB-473A-AC3B-4C149B38FE3F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B54582D-ECDC-4946-BFAB-2BF3D3DF9286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6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BC45ABD-F6C9-4E75-95B4-9FE52A52F82C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詳細ページ: URL の id と商品データをつなぐ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8AFFF60-D9FF-4F26-814F-CD53D3AEFDEA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一覧から詳細へ飛んだとき、どの商品を表示するかを URL から決める。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1CD2C6-7FFB-4046-815B-3AC10B6A5D09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89560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04412E-7934-425E-9C7B-30CBF5A3C7D6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未完成コード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AC43CBD-AE44-4B4A-AF07-1DD0463AA8D6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product = products.find((item) =&gt; item.id === id);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&lt;dd&gt;{0} 個&lt;/dd&gt;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&lt;dd&gt;{(0).toFixed(1)}&lt;/dd&gt;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8E432A0-1D05-4A1F-B950-44B8EC74AB11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60915FD-9734-4687-87AB-750C78446F89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見る構文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3A542F2-D50B-4E5B-84D7-265D8DD5B4A5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app/products/[id]/page.tsx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const { id } = await params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products.find((item) =&gt; item.id === id)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E4A967D-35B0-4D8D-84F1-BBF67665BD01}"/>
              </a:ext>
            </a:extLst>
          </p:cNvPr>
          <p:cNvSpPr>
            <a:spLocks noGrp="1"/>
          </p:cNvSpPr>
          <p:nvPr/>
        </p:nvSpPr>
        <p:spPr>
          <a:xfrm>
            <a:off x="7277100" y="4686300"/>
            <a:ext cx="4400550" cy="1104900"/>
          </a:xfrm>
          <a:prstGeom prst="rect">
            <a:avLst/>
          </a:prstGeom>
          <a:solidFill>
            <a:srgbClr val="C96F3B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B0EF71A-CF02-4F1A-8742-FA81D23E20A2}"/>
              </a:ext>
            </a:extLst>
          </p:cNvPr>
          <p:cNvSpPr>
            <a:spLocks noGrp="1"/>
          </p:cNvSpPr>
          <p:nvPr/>
        </p:nvSpPr>
        <p:spPr>
          <a:xfrm>
            <a:off x="7448550" y="48387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作業タイム 4分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279C70B-6EE7-4D63-A586-BF3D2A4BCC29}"/>
              </a:ext>
            </a:extLst>
          </p:cNvPr>
          <p:cNvSpPr>
            <a:spLocks noGrp="1"/>
          </p:cNvSpPr>
          <p:nvPr/>
        </p:nvSpPr>
        <p:spPr>
          <a:xfrm>
            <a:off x="7448550" y="5181600"/>
            <a:ext cx="4057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stock の 0 を product.stock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rating の 0 を product.rating に直す</a:t>
            </a:r>
          </a:p>
          <a:p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id が URL とデータをつなぐことを確認する</a:t>
            </a:r>
          </a:p>
        </p:txBody>
      </p:sp>
    </p:spTree>
    <p:extLst>
      <p:ext uri="{BB962C8B-B14F-4D97-AF65-F5344CB8AC3E}">
        <p14:creationId xmlns:p14="http://schemas.microsoft.com/office/powerpoint/2010/main" val="473943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2363883-FD4A-4329-8C1E-7958504E12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34FC00-9B90-4C3D-A68B-88FAB3D1C2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BE807B2-D4E2-41CD-905D-41C72A070B75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2A8A353-5AD0-4DA2-8255-283DEE622E03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16 / phase-6-answer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89A022-156D-42F3-BD08-7A7BDD459E55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17/18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09A4875-E766-4ED8-836E-E6D214431450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165307F-0B59-4E5D-9791-5F701BA3812A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1647DFEF-F14B-49FE-87C5-7A552E1732A8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08B9318-D8CE-46D2-A4A0-F340A0DA8E20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Phase 6 Answer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9BAC57C-B3C1-4467-95A2-F6F2E4087EFF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答え: [id] ルートは『URL の変わる部分』を受け取る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1E7172C-E481-4F8E-930C-E3E49BB30574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products.find(...) は、その id と一致する商品を 1 件探している。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0C959CD-0E6E-46CA-9D1C-6D116243B668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6438900" cy="2724150"/>
          </a:xfrm>
          <a:prstGeom prst="rect">
            <a:avLst/>
          </a:prstGeom>
          <a:solidFill>
            <a:srgbClr val="1F2631"/>
          </a:solidFill>
          <a:ln w="9525">
            <a:solidFill>
              <a:srgbClr val="1F263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079ADE2-CE0C-4574-B182-A53FBB389B39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609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答えの形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1AAB2C0-774A-4A28-8B31-8BBBB3B0ED93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const product = products.find((item) =&gt; item.id === id);</a:t>
            </a:r>
          </a:p>
          <a:p>
            <a:endParaRPr sz="1125" b="0">
              <a:solidFill>
                <a:srgbClr val="F6F8F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&lt;dd&gt;{product.stock} 個&lt;/dd&gt;</a:t>
            </a:r>
          </a:p>
          <a:p>
            <a:pPr algn="l">
              <a:def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6F8FB"/>
                </a:solidFill>
                <a:latin typeface="Aptos Mono"/>
                <a:ea typeface="Aptos Mono"/>
                <a:cs typeface="Aptos Mono"/>
              </a:rPr>
              <a:t>&lt;dd&gt;{product.rating.toFixed(1)}&lt;/dd&gt;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A9D9222-33B3-4561-A4FD-6DC18BDDB7C4}"/>
              </a:ext>
            </a:extLst>
          </p:cNvPr>
          <p:cNvSpPr>
            <a:spLocks noGrp="1"/>
          </p:cNvSpPr>
          <p:nvPr/>
        </p:nvSpPr>
        <p:spPr>
          <a:xfrm>
            <a:off x="7277100" y="2895600"/>
            <a:ext cx="4400550" cy="272415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0AA8CD8-C412-4B17-B95F-038FDE5BC2F7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4057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なぜこうなるか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9006821-1B6B-4B21-871E-441999CA439E}"/>
              </a:ext>
            </a:extLst>
          </p:cNvPr>
          <p:cNvSpPr>
            <a:spLocks noGrp="1"/>
          </p:cNvSpPr>
          <p:nvPr/>
        </p:nvSpPr>
        <p:spPr>
          <a:xfrm>
            <a:off x="7448550" y="3390900"/>
            <a:ext cx="405765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[id] は URL から変わる部分を受け取る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find は条件に合う最初の 1 件を返す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一覧と詳細が同じ id でつながると、画面遷移の構造が見える</a:t>
            </a:r>
          </a:p>
        </p:txBody>
      </p:sp>
    </p:spTree>
    <p:extLst>
      <p:ext uri="{BB962C8B-B14F-4D97-AF65-F5344CB8AC3E}">
        <p14:creationId xmlns:p14="http://schemas.microsoft.com/office/powerpoint/2010/main" val="488366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6FD5381-E4E2-49BC-8C9A-0B87950366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D30D9B5-34C0-4F54-86CB-8CA589A3F9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47700"/>
          </a:xfrm>
          <a:prstGeom prst="rect">
            <a:avLst/>
          </a:prstGeom>
          <a:solidFill>
            <a:srgbClr val="182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48F9F12-A8F4-44F4-BB22-9F39AC55A380}"/>
              </a:ext>
            </a:extLst>
          </p:cNvPr>
          <p:cNvSpPr>
            <a:spLocks noGrp="1"/>
          </p:cNvSpPr>
          <p:nvPr/>
        </p:nvSpPr>
        <p:spPr>
          <a:xfrm>
            <a:off x="10553700" y="0"/>
            <a:ext cx="1638300" cy="647700"/>
          </a:xfrm>
          <a:prstGeom prst="rect">
            <a:avLst/>
          </a:prstGeom>
          <a:solidFill>
            <a:srgbClr val="C96F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05D9525-FB32-4263-814D-2B6F78CECB9D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17 / handoff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F2904C3-8182-487D-A618-A1541CE3B6DC}"/>
              </a:ext>
            </a:extLst>
          </p:cNvPr>
          <p:cNvSpPr>
            <a:spLocks noGrp="1"/>
          </p:cNvSpPr>
          <p:nvPr/>
        </p:nvSpPr>
        <p:spPr>
          <a:xfrm>
            <a:off x="10896600" y="171450"/>
            <a:ext cx="914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18/18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295674-DEC5-4F60-AA0D-A325D18174A0}"/>
              </a:ext>
            </a:extLst>
          </p:cNvPr>
          <p:cNvSpPr>
            <a:spLocks noGrp="1"/>
          </p:cNvSpPr>
          <p:nvPr/>
        </p:nvSpPr>
        <p:spPr>
          <a:xfrm>
            <a:off x="381000" y="876300"/>
            <a:ext cx="876300" cy="76200"/>
          </a:xfrm>
          <a:prstGeom prst="rect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3BD942A-6C41-4AD0-9566-2F985E947F19}"/>
              </a:ext>
            </a:extLst>
          </p:cNvPr>
          <p:cNvSpPr>
            <a:spLocks noGrp="1"/>
          </p:cNvSpPr>
          <p:nvPr/>
        </p:nvSpPr>
        <p:spPr>
          <a:xfrm>
            <a:off x="10020300" y="5734050"/>
            <a:ext cx="1600200" cy="114300"/>
          </a:xfrm>
          <a:prstGeom prst="rect">
            <a:avLst/>
          </a:prstGeom>
          <a:solidFill>
            <a:srgbClr val="F4E2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8CD87643-AFB3-4593-AC29-85910194C80C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228600" cy="228600"/>
          </a:xfrm>
          <a:prstGeom prst="ellipse">
            <a:avLst/>
          </a:prstGeom>
          <a:solidFill>
            <a:srgbClr val="1D7D7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3A2D6E-8BA1-4CAB-AD61-9A3C73249DC4}"/>
              </a:ext>
            </a:extLst>
          </p:cNvPr>
          <p:cNvSpPr>
            <a:spLocks noGrp="1"/>
          </p:cNvSpPr>
          <p:nvPr/>
        </p:nvSpPr>
        <p:spPr>
          <a:xfrm>
            <a:off x="495300" y="10477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D7D78"/>
                </a:solidFill>
                <a:latin typeface="Aptos Mono"/>
                <a:ea typeface="Aptos Mono"/>
                <a:cs typeface="Aptos Mono"/>
              </a:rPr>
              <a:t>Handoff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C2A38AD-EE07-4F44-B213-53F21B0EDBF0}"/>
              </a:ext>
            </a:extLst>
          </p:cNvPr>
          <p:cNvSpPr>
            <a:spLocks noGrp="1"/>
          </p:cNvSpPr>
          <p:nvPr/>
        </p:nvSpPr>
        <p:spPr>
          <a:xfrm>
            <a:off x="495300" y="1390650"/>
            <a:ext cx="8191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参加者向け資料とメンター向け資料を分けて使う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D5DF521-52A3-4790-BEDD-B33A02AB9986}"/>
              </a:ext>
            </a:extLst>
          </p:cNvPr>
          <p:cNvSpPr>
            <a:spLocks noGrp="1"/>
          </p:cNvSpPr>
          <p:nvPr/>
        </p:nvSpPr>
        <p:spPr>
          <a:xfrm>
            <a:off x="495300" y="2076450"/>
            <a:ext cx="8763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本編が終わったら challenge へ進む。メンターは解答メモと進行ガイドを別で持つ。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EBEEC7A-A45A-456C-AC52-0DA0C3B1ED20}"/>
              </a:ext>
            </a:extLst>
          </p:cNvPr>
          <p:cNvSpPr>
            <a:spLocks noGrp="1"/>
          </p:cNvSpPr>
          <p:nvPr/>
        </p:nvSpPr>
        <p:spPr>
          <a:xfrm>
            <a:off x="514350" y="3048000"/>
            <a:ext cx="3333750" cy="236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DBD3A73-1667-4322-B1E3-A96D7ED292D8}"/>
              </a:ext>
            </a:extLst>
          </p:cNvPr>
          <p:cNvSpPr>
            <a:spLocks noGrp="1"/>
          </p:cNvSpPr>
          <p:nvPr/>
        </p:nvSpPr>
        <p:spPr>
          <a:xfrm>
            <a:off x="685800" y="320040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参加者が見るもの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8A8323D-6F36-40F8-93D8-8167E027F7DE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2990850" cy="1733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01-participant-handson.md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03-challenges.md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web の TODO コメント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4BD5858-AA8D-4E08-BA58-DB86744B1C2B}"/>
              </a:ext>
            </a:extLst>
          </p:cNvPr>
          <p:cNvSpPr>
            <a:spLocks noGrp="1"/>
          </p:cNvSpPr>
          <p:nvPr/>
        </p:nvSpPr>
        <p:spPr>
          <a:xfrm>
            <a:off x="4210050" y="3048000"/>
            <a:ext cx="3333750" cy="2362200"/>
          </a:xfrm>
          <a:prstGeom prst="rect">
            <a:avLst/>
          </a:prstGeom>
          <a:solidFill>
            <a:srgbClr val="DFF3EE"/>
          </a:solidFill>
          <a:ln w="9525">
            <a:solidFill>
              <a:srgbClr val="1D7D7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2B9BB4C-DF2B-4182-BDAC-0A33D7536F76}"/>
              </a:ext>
            </a:extLst>
          </p:cNvPr>
          <p:cNvSpPr>
            <a:spLocks noGrp="1"/>
          </p:cNvSpPr>
          <p:nvPr/>
        </p:nvSpPr>
        <p:spPr>
          <a:xfrm>
            <a:off x="4381500" y="320040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メンターが見るもの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B29DB26-4E56-4528-82BD-0E8236619146}"/>
              </a:ext>
            </a:extLst>
          </p:cNvPr>
          <p:cNvSpPr>
            <a:spLocks noGrp="1"/>
          </p:cNvSpPr>
          <p:nvPr/>
        </p:nvSpPr>
        <p:spPr>
          <a:xfrm>
            <a:off x="4381500" y="3543300"/>
            <a:ext cx="2990850" cy="1733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98-challenge-answers.md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99-instructor-guide.md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この PowerPoint deck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BEFEDD1-8974-49B4-AD3E-448E9EEF7789}"/>
              </a:ext>
            </a:extLst>
          </p:cNvPr>
          <p:cNvSpPr>
            <a:spLocks noGrp="1"/>
          </p:cNvSpPr>
          <p:nvPr/>
        </p:nvSpPr>
        <p:spPr>
          <a:xfrm>
            <a:off x="7905750" y="3048000"/>
            <a:ext cx="3333750" cy="2362200"/>
          </a:xfrm>
          <a:prstGeom prst="rect">
            <a:avLst/>
          </a:prstGeom>
          <a:solidFill>
            <a:srgbClr val="F4E2D6"/>
          </a:solidFill>
          <a:ln w="9525">
            <a:solidFill>
              <a:srgbClr val="C96F3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A238572-3AD5-44AE-9572-F0A22FD788DA}"/>
              </a:ext>
            </a:extLst>
          </p:cNvPr>
          <p:cNvSpPr>
            <a:spLocks noGrp="1"/>
          </p:cNvSpPr>
          <p:nvPr/>
        </p:nvSpPr>
        <p:spPr>
          <a:xfrm>
            <a:off x="8077200" y="320040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ハッカソンへの置き換え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E1D7D92-DC59-48BE-86FE-B3F2A229CCE6}"/>
              </a:ext>
            </a:extLst>
          </p:cNvPr>
          <p:cNvSpPr>
            <a:spLocks noGrp="1"/>
          </p:cNvSpPr>
          <p:nvPr/>
        </p:nvSpPr>
        <p:spPr>
          <a:xfrm>
            <a:off x="8077200" y="3543300"/>
            <a:ext cx="2990850" cy="1733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商品 -&gt; 作品 / イベント / ユーザー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カテゴリ -&gt; タグ / 状態</a:t>
            </a:r>
          </a:p>
          <a:p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• カート -&gt; 比較リスト / 参加候補</a:t>
            </a:r>
          </a:p>
        </p:txBody>
      </p:sp>
    </p:spTree>
    <p:extLst>
      <p:ext uri="{BB962C8B-B14F-4D97-AF65-F5344CB8AC3E}">
        <p14:creationId xmlns:p14="http://schemas.microsoft.com/office/powerpoint/2010/main" val="67141230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1562</Words>
  <Application>Microsoft Macintosh PowerPoint</Application>
  <DocSecurity>0</DocSecurity>
  <PresentationFormat>ワイド画面</PresentationFormat>
  <Paragraphs>319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Aptos Mono</vt:lpstr>
      <vt:lpstr>Calibri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KAKIUCHI Hinata</cp:lastModifiedBy>
  <cp:revision>1</cp:revision>
  <dcterms:created xsi:type="dcterms:W3CDTF">2026-06-12T12:30:17Z</dcterms:created>
  <dcterms:modified xsi:type="dcterms:W3CDTF">2026-06-12T18:32:40Z</dcterms:modified>
</cp:coreProperties>
</file>